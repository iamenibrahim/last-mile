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0bfa4d4244924" /><Relationship Type="http://schemas.openxmlformats.org/officeDocument/2006/relationships/extended-properties" Target="/docProps/app.xml" Id="R6e7ce3f95c6245fa" /><Relationship Type="http://schemas.openxmlformats.org/officeDocument/2006/relationships/officeDocument" Target="/ppt/presentation.xml" Id="R94bfe15f3577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9465c771a4046"/>
  </p:sldMasterIdLst>
  <p:notesMasterIdLst>
    <p:notesMasterId xmlns:r="http://schemas.openxmlformats.org/officeDocument/2006/relationships" r:id="R121b4b487ff242a4"/>
  </p:notesMasterIdLst>
  <p:sldIdLst>
    <p:sldId xmlns:r="http://schemas.openxmlformats.org/officeDocument/2006/relationships" id="256" r:id="R8f441a9ae4144eb6"/>
    <p:sldId xmlns:r="http://schemas.openxmlformats.org/officeDocument/2006/relationships" id="257" r:id="Re8087c94e7d14424"/>
    <p:sldId xmlns:r="http://schemas.openxmlformats.org/officeDocument/2006/relationships" id="258" r:id="Rd5c38a4786a34936"/>
    <p:sldId xmlns:r="http://schemas.openxmlformats.org/officeDocument/2006/relationships" id="259" r:id="R3f2de499dac04568"/>
    <p:sldId xmlns:r="http://schemas.openxmlformats.org/officeDocument/2006/relationships" id="260" r:id="R2c28c44449f04740"/>
    <p:sldId xmlns:r="http://schemas.openxmlformats.org/officeDocument/2006/relationships" id="261" r:id="Rd35d8e2cd4ec48d8"/>
    <p:sldId xmlns:r="http://schemas.openxmlformats.org/officeDocument/2006/relationships" id="262" r:id="R2ae15de16f8e4c66"/>
    <p:sldId xmlns:r="http://schemas.openxmlformats.org/officeDocument/2006/relationships" id="263" r:id="R78d7f4ea55ce4536"/>
    <p:sldId xmlns:r="http://schemas.openxmlformats.org/officeDocument/2006/relationships" id="264" r:id="Rd0c63cf3bf664671"/>
    <p:sldId xmlns:r="http://schemas.openxmlformats.org/officeDocument/2006/relationships" id="265" r:id="R8fab13159f3041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d6e147c12041f3" /><Relationship Type="http://schemas.openxmlformats.org/officeDocument/2006/relationships/slideMaster" Target="/ppt/slideMasters/slideMaster1.xml" Id="R6939465c771a4046" /><Relationship Type="http://schemas.openxmlformats.org/officeDocument/2006/relationships/notesMaster" Target="/ppt/notesMasters/notesMaster1.xml" Id="R121b4b487ff242a4" /><Relationship Type="http://schemas.openxmlformats.org/officeDocument/2006/relationships/presProps" Target="/ppt/presProps.xml" Id="R6a0d311e3e574887" /><Relationship Type="http://schemas.openxmlformats.org/officeDocument/2006/relationships/tableStyles" Target="/ppt/tableStyles.xml" Id="R0bd40b057b384353" /><Relationship Type="http://schemas.openxmlformats.org/officeDocument/2006/relationships/slide" Target="/ppt/slides/slide1.xml" Id="R8f441a9ae4144eb6" /><Relationship Type="http://schemas.openxmlformats.org/officeDocument/2006/relationships/slide" Target="/ppt/slides/slide2.xml" Id="Re8087c94e7d14424" /><Relationship Type="http://schemas.openxmlformats.org/officeDocument/2006/relationships/slide" Target="/ppt/slides/slide3.xml" Id="Rd5c38a4786a34936" /><Relationship Type="http://schemas.openxmlformats.org/officeDocument/2006/relationships/slide" Target="/ppt/slides/slide4.xml" Id="R3f2de499dac04568" /><Relationship Type="http://schemas.openxmlformats.org/officeDocument/2006/relationships/slide" Target="/ppt/slides/slide5.xml" Id="R2c28c44449f04740" /><Relationship Type="http://schemas.openxmlformats.org/officeDocument/2006/relationships/slide" Target="/ppt/slides/slide6.xml" Id="Rd35d8e2cd4ec48d8" /><Relationship Type="http://schemas.openxmlformats.org/officeDocument/2006/relationships/slide" Target="/ppt/slides/slide7.xml" Id="R2ae15de16f8e4c66" /><Relationship Type="http://schemas.openxmlformats.org/officeDocument/2006/relationships/slide" Target="/ppt/slides/slide8.xml" Id="R78d7f4ea55ce4536" /><Relationship Type="http://schemas.openxmlformats.org/officeDocument/2006/relationships/slide" Target="/ppt/slides/slide9.xml" Id="Rd0c63cf3bf664671" /><Relationship Type="http://schemas.openxmlformats.org/officeDocument/2006/relationships/slide" Target="/ppt/slides/slide10.xml" Id="R8fab13159f30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508510760e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990abec8c49f9" /><Relationship Type="http://schemas.openxmlformats.org/officeDocument/2006/relationships/notesMaster" Target="/ppt/notesMasters/notesMaster1.xml" Id="R157bab3d6f8043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bfcdbbcb94c6d" /><Relationship Type="http://schemas.openxmlformats.org/officeDocument/2006/relationships/notesMaster" Target="/ppt/notesMasters/notesMaster1.xml" Id="Rbb614b610acb4b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b8c1ea15d4646" /><Relationship Type="http://schemas.openxmlformats.org/officeDocument/2006/relationships/notesMaster" Target="/ppt/notesMasters/notesMaster1.xml" Id="Re375ff780e14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5235b14ad24e43" /><Relationship Type="http://schemas.openxmlformats.org/officeDocument/2006/relationships/notesMaster" Target="/ppt/notesMasters/notesMaster1.xml" Id="R7a2eb6652631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7a1452f9a4e6c" /><Relationship Type="http://schemas.openxmlformats.org/officeDocument/2006/relationships/notesMaster" Target="/ppt/notesMasters/notesMaster1.xml" Id="R96e6130618f0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fb4a0b8fc4ac0" /><Relationship Type="http://schemas.openxmlformats.org/officeDocument/2006/relationships/notesMaster" Target="/ppt/notesMasters/notesMaster1.xml" Id="R1c0b2f7e4bbe4a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871a2f1264ac6" /><Relationship Type="http://schemas.openxmlformats.org/officeDocument/2006/relationships/notesMaster" Target="/ppt/notesMasters/notesMaster1.xml" Id="Rccc124967ba748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a7d36224f94fb8" /><Relationship Type="http://schemas.openxmlformats.org/officeDocument/2006/relationships/notesMaster" Target="/ppt/notesMasters/notesMaster1.xml" Id="R5549f0a07acd43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048b29f3c94799" /><Relationship Type="http://schemas.openxmlformats.org/officeDocument/2006/relationships/notesMaster" Target="/ppt/notesMasters/notesMaster1.xml" Id="R4c44609325cf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7ebe64e8b745b4" /><Relationship Type="http://schemas.openxmlformats.org/officeDocument/2006/relationships/notesMaster" Target="/ppt/notesMasters/notesMaster1.xml" Id="R0e07923a8c38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citizen outcome: trustworthy next steps without waiting on hold.</a:t>
            </a:r>
          </a:p>
          <a:p xmlns:a="http://schemas.openxmlformats.org/drawingml/2006/main">
            <a:r>
              <a:t>The product is a working prototype, not a simulated wireframe.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need for a citizen experience that is better than a phone tree or FAQ.</a:t>
            </a:r>
          </a:p>
          <a:p xmlns:a="http://schemas.openxmlformats.org/drawingml/2006/main">
            <a:r>
              <a:t>The visible result list is grounded in checked-in official program URLs. Final eligibility remains with the agency.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packet is the system boundary. It lets channels change without regenerating the truth.</a:t>
            </a:r>
          </a:p>
          <a:p xmlns:a="http://schemas.openxmlformats.org/drawingml/2006/main">
            <a:r>
              <a:t>Microsoft Foundry is used for controlled explanation. Deterministic checks protect critical facts and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case: a citizen enters ZIP 24370, chooses Smyth County, and identifies housing, repair, and lost-document needs.</a:t>
            </a:r>
          </a:p>
          <a:p xmlns:a="http://schemas.openxmlformats.org/drawingml/2006/main">
            <a:r>
              <a:t>Official historical basis: FEMA DR-4831-VA. The prototype clearly labels the replay and the passed December 2, 2024 deadline.</a:t>
            </a:r>
          </a:p>
          <a:p xmlns:a="http://schemas.openxmlformats.org/drawingml/2006/main">
            <a:r>
              <a:t>Sources: https://www.fema.gov/sites/default/files/documents/fema_r3_4831-public-notice.pdf ; https://www.fema.gov/disaster/4831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is a live failure injection. The altered headline is withheld while verified segments remain available.</a:t>
            </a:r>
          </a:p>
          <a:p xmlns:a="http://schemas.openxmlformats.org/drawingml/2006/main">
            <a:r>
              <a:t>Content Safety is an optional output guard when configured. Its failure also causes abstention.</a:t>
            </a:r>
          </a:p>
          <a:p xmlns:a="http://schemas.openxmlformats.org/drawingml/2006/main">
            <a:r>
              <a:t>NWS source interface: https://api.weather.gov/alerts/active?area=VA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canonical packet compiles into web, SMS, voice, and offline representations.</a:t>
            </a:r>
          </a:p>
          <a:p xmlns:a="http://schemas.openxmlformats.org/drawingml/2006/main">
            <a:r>
              <a:t>The continuity code stores only the minimum state needed to resume. The full screening response is not logged.</a:t>
            </a:r>
          </a:p>
          <a:p xmlns:a="http://schemas.openxmlformats.org/drawingml/2006/main">
            <a:r>
              <a:t>Azure Speech documentation: https://learn.microsoft.com/en-us/azure/ai-services/speech-service/rest-text-to-speech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includes Azure Functions packaging, Bicep infrastructure, Foundry model configuration, Translator round-trip checks, Content Safety, Speech, and a Cosmos adapter.</a:t>
            </a:r>
          </a:p>
          <a:p xmlns:a="http://schemas.openxmlformats.org/drawingml/2006/main">
            <a:r>
              <a:t>Services use local fallbacks when credentials are not configured, which keeps the demo reproducible.</a:t>
            </a:r>
          </a:p>
          <a:p xmlns:a="http://schemas.openxmlformats.org/drawingml/2006/main">
            <a:r>
              <a:t>Sources: https://learn.microsoft.com/en-us/azure/foundry/openai/latest ; https://learn.microsoft.com/en-us/rest/api/translator/translator/translate?view=rest-translator-v3.0 ; https://learn.microsoft.com/en-us/azure/ai-services/content-safety/quickstart-text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harness results are reproducible with python -m eval.report.</a:t>
            </a:r>
          </a:p>
          <a:p xmlns:a="http://schemas.openxmlformats.org/drawingml/2006/main">
            <a:r>
              <a:t>Do not extrapolate these fixture results to production model quality or statewide societal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item on this slide exists in the repository and appears in the runnable demo.</a:t>
            </a:r>
          </a:p>
          <a:p xmlns:a="http://schemas.openxmlformats.org/drawingml/2006/main">
            <a:r>
              <a:t>The innovations reinforce each other around one boundary: a verified packet that carries only the state needed for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mapping directly to the four judging categories, each weighted 25 percent.</a:t>
            </a:r>
          </a:p>
          <a:p xmlns:a="http://schemas.openxmlformats.org/drawingml/2006/main">
            <a:r>
              <a:t>Ask for a Virginia pilot with current agency feeds, accessibility testing, and operator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19217fe17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34c4b6a6d4a57" /><Relationship Type="http://schemas.openxmlformats.org/officeDocument/2006/relationships/slideLayout" Target="/ppt/slideLayouts/slideLayout1.xml" Id="Rf8dda07103e048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dda07103e048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56c0aa054eb6" /><Relationship Type="http://schemas.openxmlformats.org/officeDocument/2006/relationships/image" Target="/ppt/media/image.png" Id="Rd17e0ff27345462a" /><Relationship Type="http://schemas.openxmlformats.org/officeDocument/2006/relationships/notesSlide" Target="/ppt/notesSlides/notesSlide1.xml" Id="R9baa70c03974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1878730fa4481" /><Relationship Type="http://schemas.openxmlformats.org/officeDocument/2006/relationships/image" Target="/ppt/media/image2.png" Id="R4aad9fd96c2d4589" /><Relationship Type="http://schemas.openxmlformats.org/officeDocument/2006/relationships/notesSlide" Target="/ppt/notesSlides/notesSlide2.xml" Id="R69a2136c0b78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3ac1300524afe" /><Relationship Type="http://schemas.openxmlformats.org/officeDocument/2006/relationships/notesSlide" Target="/ppt/notesSlides/notesSlide3.xml" Id="Rae05bab989cc4d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81906635144ae" /><Relationship Type="http://schemas.openxmlformats.org/officeDocument/2006/relationships/image" Target="/ppt/media/image3.png" Id="R7aa69fdd7e734c0c" /><Relationship Type="http://schemas.openxmlformats.org/officeDocument/2006/relationships/notesSlide" Target="/ppt/notesSlides/notesSlide4.xml" Id="Rd361307d78da41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9d543a14846fc" /><Relationship Type="http://schemas.openxmlformats.org/officeDocument/2006/relationships/image" Target="/ppt/media/image4.png" Id="Rc5ce5b501a1e4288" /><Relationship Type="http://schemas.openxmlformats.org/officeDocument/2006/relationships/notesSlide" Target="/ppt/notesSlides/notesSlide5.xml" Id="R5b71f0869db1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df8e4fde471d" /><Relationship Type="http://schemas.openxmlformats.org/officeDocument/2006/relationships/image" Target="/ppt/media/image5.png" Id="R367511a0d0804370" /><Relationship Type="http://schemas.openxmlformats.org/officeDocument/2006/relationships/notesSlide" Target="/ppt/notesSlides/notesSlide6.xml" Id="R9f8242aa1d704a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8727381cb482a" /><Relationship Type="http://schemas.openxmlformats.org/officeDocument/2006/relationships/notesSlide" Target="/ppt/notesSlides/notesSlide7.xml" Id="R5f15dc749dbf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a335246f8434c" /><Relationship Type="http://schemas.openxmlformats.org/officeDocument/2006/relationships/notesSlide" Target="/ppt/notesSlides/notesSlide8.xml" Id="Rea59a0b997404e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bdaa8f3ab4d48" /><Relationship Type="http://schemas.openxmlformats.org/officeDocument/2006/relationships/notesSlide" Target="/ppt/notesSlides/notesSlide9.xml" Id="R2684acc2fe8d42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26e6fc674222" /><Relationship Type="http://schemas.openxmlformats.org/officeDocument/2006/relationships/notesSlide" Target="/ppt/notesSlides/notesSlide10.xml" Id="R53b4bab1f4ac47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e0ff27345462a"/>
          <a:stretch xmlns:a="http://schemas.openxmlformats.org/drawingml/2006/main"/>
        </p:blipFill>
        <p:spPr>
          <a:xfrm xmlns:a="http://schemas.openxmlformats.org/drawingml/2006/main">
            <a:off x="7429500" y="1179623"/>
            <a:ext cx="3905250" cy="44987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EA28F-02D1-4BFA-8584-D22EFF97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72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3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3C934-C8BD-44C4-B1E7-8E6774AF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LAST-MILE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D62F-FC26-48B6-91AE-D5282CF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verified path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through disaster help.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851F8-7467-492B-A8FD-6CDB8E25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proof-carrying action packet. Four resilient channels. Minimum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89554-9081-4EB2-984D-989E6FE6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E8DE"/>
                </a:solidFill>
                <a:latin typeface="Aptos"/>
                <a:ea typeface="Aptos"/>
                <a:cs typeface="Aptos"/>
              </a:rPr>
              <a:t>Built with Microsoft Foundry and Azure-ready services for the Virginia challenge.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7555-4BCF-49E4-8005-BA5C76CE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DISASTER ASSISTANCE NAVIGATOR</a:t>
            </a:r>
          </a:p>
        </p:txBody>
      </p:sp>
    </p:spTree>
    <p:extLst>
      <p:ext uri="{BB962C8B-B14F-4D97-AF65-F5344CB8AC3E}">
        <p14:creationId xmlns:p14="http://schemas.microsoft.com/office/powerpoint/2010/main" val="323993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095BA-3571-42C4-8DDC-34FFE7CA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THE SERVICE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4E728-E3B2-4628-B615-F02F96B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The source can be right while the experience still fails.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19359-B67B-43F6-829B-EA25472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After a disaster, citizens must translate a maze of deadlines, documents, eligibility rules, and portals into one safe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91DB1-12DA-45A9-B666-FFE94BB1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755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72261-A78B-4D9B-8E58-26E1B14A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Contact centers overload at the exact moment ambiguity spikes.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606BE-ECE7-4677-A269-869516A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755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873BB-B73B-4285-8AC4-A85CDA9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Language, disability, device loss, and weak connectivity turn navigation into exclusion.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E39F1-34CC-43ED-B80F-DE020083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755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BB5D4-17F7-4515-A7AE-ADA62164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 confident wrong answer can be more harmful than a clear refusal and human handoff.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d9fd96c2d4589"/>
          <a:srcRect xmlns:a="http://schemas.openxmlformats.org/drawingml/2006/main" l="0" t="26295" r="0" b="26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428750"/>
            <a:ext cx="5105400" cy="4667250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33320-6469-4C4A-8068-3B3312C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6AB12-DDB7-48B3-B7DB-3E17CCA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6666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97D9A-DAC2-4F6C-8CE0-7910CCE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CENTRAL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65E8E-7A21-4E89-829B-91812F35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The Last-Mile Protocol turns trusted facts into portable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CBABC-53A6-4232-9386-A905B73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Foundry transforms the packet. It never originates the 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CD99D-644C-4E50-9FBA-67B041B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DF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724FD-E0A6-4E46-872A-F17B1EC0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AUTHORITATIVE</a:t>
            </a:r>
          </a:p>
          <a:p xmlns:a="http://schemas.openxmlformats.org/drawingml/2006/main">
            <a:pPr algn="l">
              <a:defRPr sz="1275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6FD27-01A0-4359-9888-37A6075A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69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NWS alerts</a:t>
            </a:r>
          </a:p>
          <a:p xmlns:a="http://schemas.openxmlformats.org/drawingml/2006/main">
            <a:pPr algn="l">
              <a:defRPr sz="157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FEMA declarations</a:t>
            </a:r>
          </a:p>
          <a:p xmlns:a="http://schemas.openxmlformats.org/drawingml/2006/main">
            <a:pPr algn="l">
              <a:defRPr sz="157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Virginia 211</a:t>
            </a:r>
          </a:p>
          <a:p xmlns:a="http://schemas.openxmlformats.org/drawingml/2006/main">
            <a:pPr algn="l">
              <a:defRPr sz="157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Agency program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60332-63E8-45CC-AF9B-F089619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24200"/>
            <a:ext cx="36195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6D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80EED-D87C-41F4-A3C0-070AF59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62150"/>
            <a:ext cx="3905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63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8144F-CB07-49A5-A16F-72B88821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66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CANONICAL DISASTER</a:t>
            </a:r>
          </a:p>
          <a:p xmlns:a="http://schemas.openxmlformats.org/drawingml/2006/main">
            <a:pPr algn="ctr">
              <a:defRPr sz="18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ACTION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B5B09-03E3-4F8A-A968-79E3C85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24200"/>
            <a:ext cx="276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Locked facts</a:t>
            </a:r>
          </a:p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hash + provenance</a:t>
            </a:r>
          </a:p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boundaries</a:t>
            </a:r>
          </a:p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citizen state</a:t>
            </a:r>
          </a:p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Escalation 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C3DC1-6D1D-4DCA-ADAA-901A2CE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36195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6D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C811-47C4-4CFB-868C-59F5D95A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952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DE9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CC09F-467D-4B4A-A696-A64E952B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CHANNEL COMPILERS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21132-C76F-4E38-9DEA-394D5A0B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WEB  ·  SMS</a:t>
            </a:r>
          </a:p>
          <a:p xmlns:a="http://schemas.openxmlformats.org/drawingml/2006/main">
            <a:pPr algn="ctr">
              <a:defRPr sz="18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VOICE  ·  OFFLINE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68288-6CCD-4E7C-81DE-E2928518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Same state. Same proof.</a:t>
            </a:r>
          </a:p>
          <a:p xmlns:a="http://schemas.openxmlformats.org/drawingml/2006/main">
            <a:pPr algn="ctr">
              <a:defRPr sz="135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Different delivery budget.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46988-FE95-44A9-87C9-86D4CD7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197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Human escalation wraps every stage when risk or ambiguity exceeds policy.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26C72-40E4-4761-9CDF-4717FEC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B4982-EA72-4804-B113-E9DD1B6B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1358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3823B-1325-459D-8F06-EA03AD8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INFORMATION-GAIN INTAKE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488C1-0F3B-4D0B-BA78-80B332AF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Ask only the question that changes the next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A061F-6EB4-4D93-A272-73B8231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ZIP 24370 maps to more than one Virginia county, so the navigator asks one jurisdiction question before recommending aid.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46FC-23EB-4C52-AE78-D7AF2FD1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106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C9B86-7C7F-4912-814C-D2949D5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possible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35350-947E-459A-87EE-09E631C5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001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A350F-E600-4C3E-80C3-F85CB216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asked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76112-4C43-4E72-B902-70D2939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00150"/>
            <a:ext cx="106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AA005-96D9-4823-849D-30627C3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90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skipped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69fdd7e734c0c"/>
          <a:stretch xmlns:a="http://schemas.openxmlformats.org/drawingml/2006/main"/>
        </p:blipFill>
        <p:spPr>
          <a:xfrm xmlns:a="http://schemas.openxmlformats.org/drawingml/2006/main">
            <a:off x="1481257" y="2266950"/>
            <a:ext cx="9229485" cy="3848100"/>
          </a:xfrm>
          <a:prstGeom xmlns:a="http://schemas.openxmlformats.org/drawingml/2006/main" prst="roundRect">
            <a:avLst>
              <a:gd name="adj" fmla="val 396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CCD03-4D8F-4903-91FE-191639E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A0FA4-9769-4B4C-BAD6-5C8AC1D5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05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68731-A250-4312-A2F0-C585CA7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PROOF-CARRYING GUIDANCE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96F55-FE41-483E-B2FC-151F755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If one critical fact breaks, only that segment is withheld.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6EAA4-5F28-4A93-8180-5E12D84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Four checks run before release: entity integrity, semantic fidelity, instruction coverage, and source grounding.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17500-EAD9-4897-89FE-E39E4DA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900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D3B1-3F95-47DE-BB5F-AC6D70E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Numbers, dates, roads, places, URLs, and phone numbers are locked.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E11A-4023-4966-B700-564869A1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900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0C85-BF2F-41A6-B889-955B16E3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Negations and safety instructions must survive the transform.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19DF3-6FF7-4707-9665-6033F6C0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900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CAA1D-D36E-4224-A01B-235C5FB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 failed segment returns original English plus a human escalation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DF24B-BB15-450E-9326-DBCD7AB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85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9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D2E8-FED1-47F5-B4A2-CC1D2AED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ABSTENTION IS A SAFETY FEATURE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e5b501a1e4288"/>
          <a:srcRect xmlns:a="http://schemas.openxmlformats.org/drawingml/2006/main" l="0" t="17875" r="0" b="17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76350"/>
            <a:ext cx="4762500" cy="48577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5AD83-525A-40E4-82DE-4C0AE3CE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5B424-5D82-415C-A7BC-2247DB8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660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CC8E1-ED3E-40E6-9E8C-1129A3C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RESILIENT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B6D79-110F-47C5-8D56-D4D062D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One verified state survives the channel change.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511a0d0804370"/>
          <a:stretch xmlns:a="http://schemas.openxmlformats.org/drawingml/2006/main"/>
        </p:blipFill>
        <p:spPr>
          <a:xfrm xmlns:a="http://schemas.openxmlformats.org/drawingml/2006/main">
            <a:off x="609600" y="1411529"/>
            <a:ext cx="10972800" cy="9107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A84BD-52FD-43C7-A740-148A3B3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1CF2B-3A70-4924-9170-4D0D8179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Full explanation</a:t>
            </a:r>
          </a:p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and source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355D5-5132-49F8-9556-10BD083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SMS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09CD3-E611-431B-A484-29AFB3F4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Compressed steps</a:t>
            </a:r>
          </a:p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and recovery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DD8EC-AE1E-4896-81D4-8AAA7EB4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78CB5-1679-40BF-9945-244C451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Readable script</a:t>
            </a:r>
          </a:p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and Azure Speech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E5F22-9D33-489B-B220-521930B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63D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63D3B"/>
                </a:solidFill>
                <a:latin typeface="Aptos"/>
                <a:ea typeface="Aptos"/>
                <a:cs typeface="Aptos"/>
              </a:rPr>
              <a:t>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90C45-7741-4B3E-A001-E4303CD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602-byte packet</a:t>
            </a:r>
          </a:p>
          <a:p xmlns:a="http://schemas.openxmlformats.org/drawingml/2006/main">
            <a:pPr algn="l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and cached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31739-D332-4172-9B94-B1FF4EE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63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3D9B8-0B3D-442C-9507-3B740DF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RBX-KRBTD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CEF58-FF96-4258-B0D0-388D45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43475"/>
            <a:ext cx="769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Anonymous continuity code keeps a minimal packet for 24 hours. No name, street address, Social Security number, income amount, bank information, or document upload.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03035-5413-44D3-90EF-B7E2D235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76094-D8FE-4862-AC48-189F37AB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2069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0097D-2E2E-44AE-BDF0-4135619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MICROSOFT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2B7A1-DD0A-4BAA-BAB9-EC6AE49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Azure services reinforce the protocol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81E8-02B7-4BA4-8696-2BAF52B5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The local deterministic path remains operable when cloud services are unavailable.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EF75F-59C3-485E-8313-1D0368B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90750" cy="2571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F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A8FDB-E093-4768-8CF7-C183160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5002C-084F-43AC-BDB2-1AD6C44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71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Azure Functions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NWS + FEMA + 211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Snapshot timestamps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2975E-EF30-499E-8D43-1165CE0D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36195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6D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50805-DD73-449B-BD26-C15063F8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2190750" cy="2571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63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D0242-55FC-4280-868A-59C5A17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REASON +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8A538-6489-46CB-ADC7-46AE6B8B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1771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Microsoft Foundry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Azure Translator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Safety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Deterministic 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CC052-04DE-4DB5-8ADA-582345F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38500"/>
            <a:ext cx="36195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6D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0862C-306B-480E-A9E5-EBDC25E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2190750" cy="2571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F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5DB5A-9CEB-40D3-B70C-D7C77ED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03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792A7-DE8E-4376-B5F7-2F9A74F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1771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Cosmos DB adapter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Local SQLite fallback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24-hour continuity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2112D-609A-42F6-BFF8-D9CCD2CC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36195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6D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A0E3B-CF2E-433F-9E74-4FBF255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190750" cy="2571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DE9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A30A8-CF44-46F0-B32F-12B9337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4D216-3BDC-41BC-99F2-DCAACF6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1771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Static web app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Azure AI Speech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SMS-ready packet</a:t>
            </a:r>
          </a:p>
          <a:p xmlns:a="http://schemas.openxmlformats.org/drawingml/2006/main">
            <a:pPr algn="ctr">
              <a:defRPr sz="1500" b="0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Human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FE67F-7811-48EA-8D37-34E9BE5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0248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D2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D2622-A92B-4374-BBA3-6915058D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POLICY: Foundry explains. Authoritative sources decide. Verification gates release.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3856F-F085-4ACF-8681-3B6EE896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8343A-7AC8-43A0-AB45-F590B10A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36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6ACE3-143D-4188-BDF1-7229BEFE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63AA4-2166-4DD4-8076-F06633A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The evidence is strong because the claims stay scoped.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ADC2F-E5E9-4E3E-B165-BAF3565D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September 23, 2026 local harness results against the checked-in NWS-schema fixture.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6115050"/>
              </a:tblGrid>
              <a:tr h="5034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7F663"/>
                          </a:solidFill>
                          <a:latin typeface="Aptos"/>
                          <a:ea typeface="Aptos"/>
                          <a:cs typeface="Aptos"/>
                        </a:rPr>
                        <a:t>CHECK</a:t>
                      </a:r>
                    </a:p>
                  </a:txBody>
                  <a:tcPr marL="114300" marR="114300" marT="76200" marB="76200">
                    <a:solidFill>
                      <a:srgbClr val="063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7F663"/>
                          </a:solidFill>
                          <a:latin typeface="Aptos"/>
                          <a:ea typeface="Aptos"/>
                          <a:cs typeface="Aptos"/>
                        </a:rPr>
                        <a:t>RESULT</a:t>
                      </a:r>
                    </a:p>
                  </a:txBody>
                  <a:tcPr marL="114300" marR="114300" marT="76200" marB="76200">
                    <a:solidFill>
                      <a:srgbClr val="063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7F663"/>
                          </a:solidFill>
                          <a:latin typeface="Aptos"/>
                          <a:ea typeface="Aptos"/>
                          <a:cs typeface="Aptos"/>
                        </a:rPr>
                        <a:t>WHAT IT MEANS</a:t>
                      </a:r>
                    </a:p>
                  </a:txBody>
                  <a:tcPr marL="114300" marR="114300" marT="76200" marB="76200">
                    <a:solidFill>
                      <a:srgbClr val="063D3B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Automated tests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19 passing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API, protocol, transforms, and privacy behavior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Injected corruption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17 / 17 caught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100% recall in the deterministic fixture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Clean segments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0 / 140 refused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0% false abstention in this harness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Transform latency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1.82 ms p95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Local deterministic path, not an Azure benchmark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Cached shell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91,990 bytes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Uncompressed repository bytes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Offline packet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96D38"/>
                          </a:solidFill>
                          <a:latin typeface="Aptos"/>
                          <a:ea typeface="Aptos"/>
                          <a:cs typeface="Aptos"/>
                        </a:rPr>
                        <a:t>602 bytes</a:t>
                      </a:r>
                    </a:p>
                  </a:txBody>
                  <a:tcPr marL="114300" marR="114300" marT="66675" marB="66675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D2C"/>
                          </a:solidFill>
                          <a:latin typeface="Aptos"/>
                          <a:ea typeface="Aptos"/>
                          <a:cs typeface="Aptos"/>
                        </a:rPr>
                        <a:t>Compact cross-channel recovery payload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C90AA-D829-4767-B763-5D1EDFD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Not claimed: production translation quality, statewide impact, or live Azure latency.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D8C14-89FC-4377-982C-DE4A2FC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6B421-C0DF-466C-851A-D60185E5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524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81252E-B523-440F-8D0F-D462FECE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TEN IMPLEMENTED INNOVATIONS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F807A-46AD-4907-937F-A4D2D5CE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Innovation is a system behavior, not a chatbot 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5EB42-AC48-4BDC-A749-8CEE530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26512-584F-43D5-BFE6-E8B0798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Canonical Disaster Action Packet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C3F7B-37A4-4BA1-94D4-BB256AB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C83AA-13AB-411E-9472-F62EFC4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76135-2036-4A6C-9745-89DE8DE4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Proof-carrying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4F444-B163-4195-984F-0D4F87A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9DB13-DEA9-4345-BCCF-EA34BF7E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F5D4D-08E3-413B-AF9B-CFA730E0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Information-gain question 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313D-2C03-416D-BFD3-6902888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5E85C-471F-45E7-80D1-20193EB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C645E-A371-4103-BE79-CC47C6D0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Jurisdiction disambiguation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0AF0D-EC86-4CD9-8F17-9B309AD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0582F-6712-4609-B804-2D4723D9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92E94-9DE4-41BA-83E8-E07F581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Per-segment abstention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33D64-D22D-46B7-B634-07E65CD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4145F-1BE5-47AE-8B61-FF85A622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A2146-FFAF-463A-9415-654C4CE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Four-channel compiler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3C9B0-36B2-4203-AEF3-14C54FBE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E890F-0C9A-464B-9231-1B4AF120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A9546-6171-44FC-96F6-E22D0FD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24-hour anonymous continuity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E0A35-6911-4EEA-BCB1-D6BA1A6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348FC-8440-44BF-B55E-387A3C7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EE522-32BA-4274-A0B3-6D4AC9A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NWS-to-FEMA lifecycle bridge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1E564-AF93-420C-AA07-B5E8CC7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6506C-F340-4057-A7E8-2F270E43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1FB7E-B56A-4C84-A6F4-FE42937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Connectivity-aware offline mode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A4793-3BF5-4B2D-8119-6B3FECD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02A7A-D83E-46A8-8DC4-53D65D9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4E78B-4974-429D-BF2B-EA3BDBDE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958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Context-rich human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9B3CA-F74F-478D-9B5D-AA3F6199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C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E25743-12BB-4FAD-9887-82DD5A29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MICROSOFT × CCI INNOVATION CHALLENGE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B9D3E-0B2A-4038-8109-7A5EEBC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075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075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0664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3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CC9F3-2B2E-4D00-A23E-88B4D4B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WHY THIS CAN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E75C5-B46A-44CE-8780-914ADAF4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04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safer citizen journey,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for a real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30C63-7C89-4832-B3EC-ECB37AA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1BFD-E671-4EDD-A286-40291A8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BE5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6BE52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0DFB1-8C15-43BC-8FB1-953BBF7F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 local fallback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explicit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5B00C-216D-4829-95FF-9F7EF2D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F71AA-DAE6-4A5B-84C1-272CB977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BE5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6BE52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1F06B-CC9B-4E81-8169-A505BC8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Protocol plus proof,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generic 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44F98-6A83-4439-BE6F-9971610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01CE9-249B-4F1D-8432-F010F77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BE5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6BE52"/>
                </a:solidFill>
                <a:latin typeface="Aptos"/>
                <a:ea typeface="Aptos"/>
                <a:cs typeface="Aptos"/>
              </a:rPr>
              <a:t>SOCIETAL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DA4E-03A0-42B0-9D66-3E6E5DF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waiting, less data,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accessible channels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756D3-EBE5-456B-A092-7A6B8B2B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D7F66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D7F663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6B363-6791-4479-83F8-02BACE06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BE5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6BE52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1A480-FF88-43F0-BE23-AEC97F7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app, tests, docs,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Azure deployment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3F611-9978-40E6-9BF5-A65B7D2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E190A-87C7-4431-8C7F-2558AB4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6D3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96D38"/>
                </a:solidFill>
                <a:latin typeface="Aptos"/>
                <a:ea typeface="Aptos"/>
                <a:cs typeface="Aptos"/>
              </a:rPr>
              <a:t>KEY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56B77-9566-4AD8-BA7E-9151930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D2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D2C"/>
                </a:solidFill>
                <a:latin typeface="Aptos"/>
                <a:ea typeface="Aptos"/>
                <a:cs typeface="Aptos"/>
              </a:rPr>
              <a:t>In disaster assistance, restraint is a product capability: preserve authoritative facts, collect less, and hand off early when confidence is not enough.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1D528-A441-4967-B120-493B858A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8DE"/>
                </a:solidFill>
                <a:latin typeface="Aptos"/>
                <a:ea typeface="Aptos"/>
                <a:cs typeface="Aptos"/>
              </a:rPr>
              <a:t>LAST-MILE · MICROSOFT × CCI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134E6-41C7-42D0-8C92-FE2BE52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8D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6334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2026-09-23T18:47:36.1020000Z</dcterms:created>
  <dcterms:modified xsi:type="dcterms:W3CDTF">2026-09-23T18:47:36.1020000Z</dcterms:modified>
</coreProperties>
</file>